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E6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RFQ secured</c:v>
                  </c:pt>
                  <c:pt idx="1">
                    <c:v>Reply</c:v>
                  </c:pt>
                  <c:pt idx="2">
                    <c:v>Call</c:v>
                  </c:pt>
                  <c:pt idx="3">
                    <c:v>Email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15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3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658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640080"/>
            <a:ext cx="3108960" cy="3108960"/>
          </a:xfrm>
          <a:prstGeom prst="hexagon">
            <a:avLst/>
          </a:prstGeom>
          <a:ln w="12700">
            <a:solidFill>
              <a:srgbClr val="2C44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1371600"/>
            <a:ext cx="2011680" cy="2011680"/>
          </a:xfrm>
          <a:prstGeom prst="hexagon">
            <a:avLst/>
          </a:prstGeom>
          <a:ln w="12700">
            <a:solidFill>
              <a:srgbClr val="2C44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4480560"/>
            <a:ext cx="2743200" cy="2743200"/>
          </a:xfrm>
          <a:prstGeom prst="hexagon">
            <a:avLst/>
          </a:prstGeom>
          <a:ln w="12700">
            <a:solidFill>
              <a:srgbClr val="223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548640"/>
            <a:ext cx="457200" cy="457200"/>
          </a:xfrm>
          <a:prstGeom prst="hexagon">
            <a:avLst/>
          </a:prstGeom>
          <a:ln w="19050">
            <a:solidFill>
              <a:srgbClr val="7DB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740664"/>
            <a:ext cx="73152" cy="73152"/>
          </a:xfrm>
          <a:prstGeom prst="ellipse">
            <a:avLst/>
          </a:prstGeom>
          <a:solidFill>
            <a:srgbClr val="7DB8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Lead-Generation Platform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Industrial Sales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66928" y="41605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qualify, and convert the right industrial buyers across the Gulf — with AI doing the heavy lifting and your team closing the deals.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Solutions  ·  Industrial Impact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pipeline is still built by hand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automation and IoT into GCC manufacturers means chasing a fragmented market — and most of the effort is spent before a single real conversation happens.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816352"/>
            <a:ext cx="457200" cy="45720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16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6609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buyers is slow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63040" y="29718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hand-build lists from directories and LinkedIn — hours per handful of contacts, most of them a poor fit.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005072"/>
            <a:ext cx="457200" cy="45720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84962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who's worth calling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63040" y="4160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looks the same in a spreadsheet. Time gets spent on companies that were never going to buy.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5193792"/>
            <a:ext cx="457200" cy="45720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503834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disappears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63040" y="53492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emails and quotes live in inboxes and memory. Managers can't see effort, outcomes, or a real forecast.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03920" y="2514600"/>
            <a:ext cx="3108960" cy="3383280"/>
          </a:xfrm>
          <a:prstGeom prst="roundRect">
            <a:avLst>
              <a:gd name="adj" fmla="val 2647"/>
            </a:avLst>
          </a:prstGeom>
          <a:solidFill>
            <a:srgbClr val="16232E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325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day goes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3252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8732520" y="425196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prospecting time is spent finding and vetting leads — not talking to buyers.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from discovery to deal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runs the top of the funnel for you and gives your team a place to work every lead — so effort goes into closing, not list-building.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43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&amp; qualifies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pipeline sources companies across the Gulf, verifies contacts, and scores fit 0–100 — so only real buyers reach your reps.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46888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743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works them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assign leads; agents call and email inside a guided console with talk-tracks, notes, and one-click RFQ capture.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246888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7432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measured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5904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reply, and quote is tracked automatically, feeding live leaderboards, targets, and a weighted revenue forecast.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that never stops feeding your reps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buyers from Apollo across six Gulf markets, plus intent signals from social and forums. A rotation engine sweeps the whole market — no repeats.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3703320"/>
            <a:ext cx="384048" cy="457200"/>
          </a:xfrm>
          <a:prstGeom prst="chevron">
            <a:avLst/>
          </a:prstGeom>
          <a:solidFill>
            <a:srgbClr val="2E6E9E"/>
          </a:solidFill>
          <a:ln/>
        </p:spPr>
      </p:sp>
      <p:sp>
        <p:nvSpPr>
          <p:cNvPr id="9" name="Shape 7"/>
          <p:cNvSpPr/>
          <p:nvPr/>
        </p:nvSpPr>
        <p:spPr>
          <a:xfrm>
            <a:off x="4325112" y="22860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703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each email, detects the company's tech stack, and scores Ideal-Customer fit 0–100 with AI — with a one-line reason for every score.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36992" y="3703320"/>
            <a:ext cx="384048" cy="457200"/>
          </a:xfrm>
          <a:prstGeom prst="chevron">
            <a:avLst/>
          </a:prstGeom>
          <a:solidFill>
            <a:srgbClr val="2E6E9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2286000"/>
            <a:ext cx="35661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75904" y="2514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94192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94192" y="370332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Sales-ready leads are assigned to agents, worked through the call console, and captured as RFQs that flow into a live revenue pipeline.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5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demand or on a daily schedule — the queue of qualified leads refills itself.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work the buyers worth working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is scored 0–100 against your Ideal Customer Profile — role seniority, industry, company size and region weighed together, the way a great SDR would, with a reason attached.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852160" cy="685800"/>
          </a:xfrm>
          <a:prstGeom prst="roundRect">
            <a:avLst>
              <a:gd name="adj" fmla="val 12000"/>
            </a:avLst>
          </a:prstGeom>
          <a:solidFill>
            <a:srgbClr val="E7F3EC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0632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90–100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3063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Decision-makers, perfect fit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58768"/>
            <a:ext cx="5852160" cy="685800"/>
          </a:xfrm>
          <a:prstGeom prst="roundRect">
            <a:avLst>
              <a:gd name="adj" fmla="val 12000"/>
            </a:avLst>
          </a:prstGeom>
          <a:solidFill>
            <a:srgbClr val="E8F0F6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858768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70–89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38587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industry &amp; region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54296"/>
            <a:ext cx="5852160" cy="685800"/>
          </a:xfrm>
          <a:prstGeom prst="roundRect">
            <a:avLst>
              <a:gd name="adj" fmla="val 12000"/>
            </a:avLst>
          </a:prstGeom>
          <a:solidFill>
            <a:srgbClr val="F6EDE0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654296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5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50–69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377440" y="465429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fit — nurture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449824"/>
            <a:ext cx="5852160" cy="6858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449824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9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45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377440" y="544982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out automatically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2194560"/>
            <a:ext cx="4846320" cy="3566160"/>
          </a:xfrm>
          <a:prstGeom prst="roundRect">
            <a:avLst>
              <a:gd name="adj" fmla="val 2308"/>
            </a:avLst>
          </a:prstGeom>
          <a:solidFill>
            <a:srgbClr val="16232E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2423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score comes with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86600" y="2990088"/>
            <a:ext cx="128016" cy="128016"/>
          </a:xfrm>
          <a:prstGeom prst="ellipse">
            <a:avLst/>
          </a:prstGeom>
          <a:solidFill>
            <a:srgbClr val="7DB8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28986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  </a:t>
            </a:r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0–100, tuned to your profile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86600" y="3648456"/>
            <a:ext cx="128016" cy="128016"/>
          </a:xfrm>
          <a:prstGeom prst="ellipse">
            <a:avLst/>
          </a:prstGeom>
          <a:solidFill>
            <a:srgbClr val="7DB8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355701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level  </a:t>
            </a:r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86600" y="4306824"/>
            <a:ext cx="128016" cy="128016"/>
          </a:xfrm>
          <a:prstGeom prst="ellipse">
            <a:avLst/>
          </a:prstGeom>
          <a:solidFill>
            <a:srgbClr val="7DB8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4215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match  </a:t>
            </a:r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· AI · automation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4965192"/>
            <a:ext cx="128016" cy="128016"/>
          </a:xfrm>
          <a:prstGeom prst="ellipse">
            <a:avLst/>
          </a:prstGeom>
          <a:solidFill>
            <a:srgbClr val="7DB8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4873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reason  </a:t>
            </a:r>
            <a:pPr indent="0" marL="0">
              <a:buNone/>
            </a:pPr>
            <a:r>
              <a:rPr lang="en-US" sz="1300" dirty="0">
                <a:solidFill>
                  <a:srgbClr val="C6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your reps can trust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5440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reps spend their hours on companies that can actually buy.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YOUR SALES FLOOR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rep needs, in one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788920"/>
            <a:ext cx="658368" cy="658368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788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assignment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95351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hand leads to agents individually or in bulk, with guards that prevent double-work.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788920"/>
            <a:ext cx="658368" cy="658368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7889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call console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69480" y="295351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timer, category-specific talk-tracks, notes, a 1–10 interest rating, and instant RFQ capture.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572000"/>
            <a:ext cx="658368" cy="658368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572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pipeline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45920" y="473659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becomes an opportunity on a drag-and-drop board with a weighted revenue forecast.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6F9FB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572000"/>
            <a:ext cx="658368" cy="658368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45720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&amp; cadences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69480" y="4736592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scripts per client type, plus multi-touch sequences that auto-schedule the next follow-up.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EVERYTHING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and outcomes, scored transparently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ranked on a clear points model you control — RFQs are the outcome that counts, with credit for the calls, emails, and replies that get there. Managers set daily targets and watch a live weighted forecast.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  —  </a:t>
            </a:r>
            <a:pPr indent="0" marL="0">
              <a:buNone/>
            </a:pPr>
            <a:r>
              <a:rPr lang="en-US" sz="13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+ outcome per agent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5020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6E9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58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targets  —  </a:t>
            </a:r>
            <a:pPr indent="0" marL="0">
              <a:buNone/>
            </a:pPr>
            <a:r>
              <a:rPr lang="en-US" sz="13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· RFQs · revenue vs actual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51713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256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forecast  —  </a:t>
            </a:r>
            <a:pPr indent="0" marL="0">
              <a:buNone/>
            </a:pPr>
            <a:r>
              <a:rPr lang="en-US" sz="130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pipeline 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points, by action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0" y="2148840"/>
          <a:ext cx="5212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YOUR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Purpose-built for GCC industry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CRM bolt-on. The sourcing, scoring, and messaging are tuned for industrial automation buyers across the Gulf.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22394C"/>
          </a:solidFill>
          <a:ln w="12700">
            <a:solidFill>
              <a:srgbClr val="3150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80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DB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markets covered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· UAE · Qatar · Kuwait · Bahrain · Oman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65176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22394C"/>
          </a:solidFill>
          <a:ln w="12700">
            <a:solidFill>
              <a:srgbClr val="3150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880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DB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6616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target sectors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4343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Oil &amp; Gas · Pharma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22394C"/>
          </a:solidFill>
          <a:ln w="12700">
            <a:solidFill>
              <a:srgbClr val="3150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80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DB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50–5,000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sweet-spot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4343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industrial buyers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2651760"/>
            <a:ext cx="2697480" cy="2880360"/>
          </a:xfrm>
          <a:prstGeom prst="roundRect">
            <a:avLst>
              <a:gd name="adj" fmla="val 3051"/>
            </a:avLst>
          </a:prstGeom>
          <a:solidFill>
            <a:srgbClr val="22394C"/>
          </a:solidFill>
          <a:ln w="12700">
            <a:solidFill>
              <a:srgbClr val="3150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8803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7DB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13,500+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23544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already in system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35440" y="4343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growing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STEMRONIC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CRM — a selling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88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5420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AI-native, not bolted 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30632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is done by a large language model tuned to your profile, not a rules spreadsheet — it reads messy titles like a human.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788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5420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deal in one 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0" y="30632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scoring, calling, quoting, and forecasting share one record. No exports, no hand-offs, no lost context.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43708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+ outcome accountability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892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finally see who is doing the work and who is winning RFQs — with targets and a forecast, not vanity metrics.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11480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617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6E9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43708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industrial focus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0" y="4892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buyers, industries, and geography you actually sell into — live from day one.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 with your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88920"/>
            <a:ext cx="640080" cy="64008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587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9718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managers, agents and viewers each see exactly what they should — agents only their own leads.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788920"/>
            <a:ext cx="640080" cy="64008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25877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69480" y="29718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assignment, call, and change is logged — accountability by default.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526280"/>
            <a:ext cx="640080" cy="64008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4325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470916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token sessions, and secrets kept out of the codebase entirely.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526280"/>
            <a:ext cx="640080" cy="640080"/>
          </a:xfrm>
          <a:prstGeom prst="hexagon">
            <a:avLst/>
          </a:prstGeom>
          <a:ln w="19050">
            <a:solidFill>
              <a:srgbClr val="2E6E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4325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&amp; backed up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470916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6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with automatic daily snapshots; a clean path to scale when you grow.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  ·  Lead Generation Platform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548640"/>
            <a:ext cx="2743200" cy="2743200"/>
          </a:xfrm>
          <a:prstGeom prst="hexagon">
            <a:avLst/>
          </a:prstGeom>
          <a:ln w="12700">
            <a:solidFill>
              <a:srgbClr val="2C44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4297680"/>
            <a:ext cx="3108960" cy="3108960"/>
          </a:xfrm>
          <a:prstGeom prst="hexagon">
            <a:avLst/>
          </a:prstGeom>
          <a:ln w="12700">
            <a:solidFill>
              <a:srgbClr val="223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40080"/>
            <a:ext cx="502920" cy="502920"/>
          </a:xfrm>
          <a:prstGeom prst="hexagon">
            <a:avLst/>
          </a:prstGeom>
          <a:ln w="19050">
            <a:solidFill>
              <a:srgbClr val="7DB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5586" y="851306"/>
            <a:ext cx="80467" cy="80467"/>
          </a:xfrm>
          <a:prstGeom prst="ellipse">
            <a:avLst/>
          </a:prstGeom>
          <a:solidFill>
            <a:srgbClr val="7DB8FF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STEMRONIC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the Gulf's industrial market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your pipeline.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a live, qualified pipeline in front of your team — and show you exactly how it works.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489204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48920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live demo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info@stemronic.com</a:t>
            </a:r>
            <a:pPr indent="0" marL="0">
              <a:buNone/>
            </a:pPr>
            <a:r>
              <a:rPr lang="en-US" sz="1300" dirty="0">
                <a:solidFill>
                  <a:srgbClr val="9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stemronic.com     +92 123 456 7890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2026-08-05T02:33:21Z</dcterms:created>
  <dcterms:modified xsi:type="dcterms:W3CDTF">2026-08-05T02:33:21Z</dcterms:modified>
</cp:coreProperties>
</file>